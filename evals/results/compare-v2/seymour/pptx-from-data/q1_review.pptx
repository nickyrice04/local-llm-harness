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dPt>
            <c:idx val="0"/>
            <c:spPr>
              <a:solidFill>
                <a:srgbClr val="00B4D8"/>
              </a:solidFill>
            </c:spPr>
          </c:dPt>
          <c:dPt>
            <c:idx val="1"/>
            <c:spPr>
              <a:solidFill>
                <a:srgbClr val="FF6B6B"/>
              </a:solidFill>
            </c:spPr>
          </c:dPt>
          <c:dPt>
            <c:idx val="2"/>
            <c:spPr>
              <a:solidFill>
                <a:srgbClr val="96CFB0"/>
              </a:solidFill>
            </c:spPr>
          </c:dPt>
          <c:dPt>
            <c:idx val="3"/>
            <c:spPr>
              <a:solidFill>
                <a:srgbClr val="FFD166"/>
              </a:solidFill>
            </c:spPr>
          </c:dPt>
          <c:dLbls>
            <c:numFmt formatCode="$#,##0,K" sourceLinked="0"/>
            <c:txPr>
              <a:bodyPr/>
              <a:lstStyle/>
              <a:p>
                <a:pPr>
                  <a:defRPr sz="1400">
                    <a:solidFill>
                      <a:srgbClr val="FFFFFF"/>
                    </a:solidFill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East</c:v>
                </c:pt>
                <c:pt idx="1">
                  <c:v>North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185700.0</c:v>
                </c:pt>
                <c:pt idx="1">
                  <c:v>412500.0</c:v>
                </c:pt>
                <c:pt idx="2">
                  <c:v>263900.0</c:v>
                </c:pt>
                <c:pt idx="3">
                  <c:v>145100.0</c:v>
                </c:pt>
              </c:numCache>
            </c:numRef>
          </c:val>
        </c:ser>
        <c:gapWidth val="1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CCCCCC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333355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CCCCC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the team. This deck covers Q1 2026 revenue performance across all regions, key takeaways, risks, and next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North region generated $412.5K, the largest share. Highlight the regional breakdown and note that the chart uses a four-color palette for easy distinction.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each metric. Emphasize North's strong growth (+16.4%) and the overall $1.0M revenue run-rate. Customer count in March was 912.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Discuss each risk. The East dip in February is worth investigating — was it a timing issue or a real slowdown? West's small base means volatility.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Assign owners and deadlines. The East analysis should be quick — check for one-off factors. Q2 targets are ambitious but achievable given Q1 momentum.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the floor for questions. Reiterate confidence in Q2 trajectory. Remind team that full regional breakdowns are available upon request.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Q1 2026 Revenue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474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B4D8"/>
                </a:solidFill>
                <a:latin typeface="Calibri"/>
              </a:defRPr>
            </a:pPr>
            <a:r>
              <a:t>January – March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572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Calibri"/>
              </a:defRPr>
            </a:pPr>
            <a:r>
              <a:t>Prepared for the Leadership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Revenue by Region – Q1 2026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1097280"/>
          <a:ext cx="68580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412480" y="228600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Calibri"/>
              </a:defRPr>
            </a:pPr>
            <a:r>
              <a:t>North leads with $412K revenue — 41% of total Q1.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Key Numbers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73152" cy="5486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13716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CCCCC"/>
                </a:solidFill>
                <a:latin typeface="Calibri"/>
              </a:defRPr>
            </a:pPr>
            <a:r>
              <a:t>Total Q1 Revenue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3716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4D8"/>
                </a:solidFill>
                <a:latin typeface="Calibri"/>
              </a:defRPr>
            </a:pPr>
            <a:r>
              <a:t>$1007.2M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286000"/>
            <a:ext cx="73152" cy="5486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22860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CCCCC"/>
                </a:solidFill>
                <a:latin typeface="Calibri"/>
              </a:defRPr>
            </a:pPr>
            <a:r>
              <a:t>Best Region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22860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4D8"/>
                </a:solidFill>
                <a:latin typeface="Calibri"/>
              </a:defRPr>
            </a:pPr>
            <a:r>
              <a:t>North ($412.5K)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200400"/>
            <a:ext cx="73152" cy="5486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32004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CCCCC"/>
                </a:solidFill>
                <a:latin typeface="Calibri"/>
              </a:defRPr>
            </a:pPr>
            <a:r>
              <a:t>Jan → Mar Growth (North)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32004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4D8"/>
                </a:solidFill>
                <a:latin typeface="Calibri"/>
              </a:defRPr>
            </a:pPr>
            <a:r>
              <a:t>+16.4%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4114800"/>
            <a:ext cx="73152" cy="5486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0160" y="41148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CCCCC"/>
                </a:solidFill>
                <a:latin typeface="Calibri"/>
              </a:defRPr>
            </a:pPr>
            <a:r>
              <a:t>Jan → Mar Growth (West)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41148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4D8"/>
                </a:solidFill>
                <a:latin typeface="Calibri"/>
              </a:defRPr>
            </a:pPr>
            <a:r>
              <a:t>+16.2%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5029200"/>
            <a:ext cx="73152" cy="5486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50292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CCCCC"/>
                </a:solidFill>
                <a:latin typeface="Calibri"/>
              </a:defRPr>
            </a:pPr>
            <a:r>
              <a:t>Total Customers (Mar)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50292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4D8"/>
                </a:solidFill>
                <a:latin typeface="Calibri"/>
              </a:defRPr>
            </a:pPr>
            <a:r>
              <a:t>939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Risks &amp; Observations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73152" cy="7315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1371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1. East region dipped in February (-4.6%) — monitor for seasonality.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468880"/>
            <a:ext cx="73152" cy="7315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2468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2. West has the smallest base; a single large deal swings results.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566160"/>
            <a:ext cx="73152" cy="7315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3566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3. Customer density (revenue/customer) is highest in North — potential for upsell.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4663439"/>
            <a:ext cx="73152" cy="7315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4663439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4. No region showed negative growth Q1, but pace varies widely.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96C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73152" cy="731520"/>
          </a:xfrm>
          <a:prstGeom prst="rect">
            <a:avLst/>
          </a:prstGeom>
          <a:solidFill>
            <a:srgbClr val="96C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1371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1. Deep-dive into East February dip — root-cause analysis by 15 Apr.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468880"/>
            <a:ext cx="73152" cy="731520"/>
          </a:xfrm>
          <a:prstGeom prst="rect">
            <a:avLst/>
          </a:prstGeom>
          <a:solidFill>
            <a:srgbClr val="96C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2468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2. Set Q2 targets per region (North +10%, others +8%).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566160"/>
            <a:ext cx="73152" cy="731520"/>
          </a:xfrm>
          <a:prstGeom prst="rect">
            <a:avLst/>
          </a:prstGeom>
          <a:solidFill>
            <a:srgbClr val="96C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3566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3. Launch upsell campaign targeting North's high customer density.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4663439"/>
            <a:ext cx="73152" cy="731520"/>
          </a:xfrm>
          <a:prstGeom prst="rect">
            <a:avLst/>
          </a:prstGeom>
          <a:solidFill>
            <a:srgbClr val="96C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4663439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4. Review West pipeline — identify 2–3 anchor deals for Q2.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5603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657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B4D8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7548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Calibri"/>
              </a:defRPr>
            </a:pPr>
            <a:r>
              <a:t>Q1 2026 |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