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0"/>
    <c:plotArea>
      <c:barChart>
        <c:barDir val="col"/>
        <c:grouping val="clustered"/>
        <c:ser>
          <c:idx val="0"/>
          <c:order val="0"/>
          <c:tx>
            <c:strRef>
              <c:f>Sheet1!$B$1</c:f>
              <c:strCache>
                <c:ptCount val="1"/>
                <c:pt idx="0">
                  <c:v>North</c:v>
                </c:pt>
              </c:strCache>
            </c:strRef>
          </c:tx>
          <c:spPr>
            <a:solidFill>
              <a:srgbClr val="00B4D8"/>
            </a:solidFill>
          </c:spP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cat>
            <c:strRef>
              <c:f>Sheet1!$A$2:$A$13</c:f>
              <c:strCache>
                <c:ptCount val="12"/>
                <c:pt idx="0">
                  <c:v>2026-01</c:v>
                </c:pt>
                <c:pt idx="1">
                  <c:v>2026-01</c:v>
                </c:pt>
                <c:pt idx="2">
                  <c:v>2026-01</c:v>
                </c:pt>
                <c:pt idx="3">
                  <c:v>2026-01</c:v>
                </c:pt>
                <c:pt idx="4">
                  <c:v>2026-02</c:v>
                </c:pt>
                <c:pt idx="5">
                  <c:v>2026-02</c:v>
                </c:pt>
                <c:pt idx="6">
                  <c:v>2026-02</c:v>
                </c:pt>
                <c:pt idx="7">
                  <c:v>2026-02</c:v>
                </c:pt>
                <c:pt idx="8">
                  <c:v>2026-03</c:v>
                </c:pt>
                <c:pt idx="9">
                  <c:v>2026-03</c:v>
                </c:pt>
                <c:pt idx="10">
                  <c:v>2026-03</c:v>
                </c:pt>
                <c:pt idx="11">
                  <c:v>2026-03</c:v>
                </c:pt>
              </c:strCache>
            </c:strRef>
          </c:cat>
          <c:val>
            <c:numRef>
              <c:f>Sheet1!$B$2:$B$4</c:f>
              <c:numCache>
                <c:formatCode>General</c:formatCode>
                <c:ptCount val="3"/>
                <c:pt idx="0">
                  <c:v>128000</c:v>
                </c:pt>
                <c:pt idx="1">
                  <c:v>135500</c:v>
                </c:pt>
                <c:pt idx="2">
                  <c:v>149000</c:v>
                </c:pt>
              </c:numCache>
            </c:numRef>
          </c:val>
        </c:ser>
        <c:ser>
          <c:idx val="1"/>
          <c:order val="1"/>
          <c:tx>
            <c:strRef>
              <c:f>Sheet1!$C$1</c:f>
              <c:strCache>
                <c:ptCount val="1"/>
                <c:pt idx="0">
                  <c:v>South</c:v>
                </c:pt>
              </c:strCache>
            </c:strRef>
          </c:tx>
          <c:spPr>
            <a:solidFill>
              <a:srgbClr val="48CAE4"/>
            </a:solidFill>
          </c:spP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cat>
            <c:strRef>
              <c:f>Sheet1!$A$2:$A$13</c:f>
              <c:strCache>
                <c:ptCount val="12"/>
                <c:pt idx="0">
                  <c:v>2026-01</c:v>
                </c:pt>
                <c:pt idx="1">
                  <c:v>2026-01</c:v>
                </c:pt>
                <c:pt idx="2">
                  <c:v>2026-01</c:v>
                </c:pt>
                <c:pt idx="3">
                  <c:v>2026-01</c:v>
                </c:pt>
                <c:pt idx="4">
                  <c:v>2026-02</c:v>
                </c:pt>
                <c:pt idx="5">
                  <c:v>2026-02</c:v>
                </c:pt>
                <c:pt idx="6">
                  <c:v>2026-02</c:v>
                </c:pt>
                <c:pt idx="7">
                  <c:v>2026-02</c:v>
                </c:pt>
                <c:pt idx="8">
                  <c:v>2026-03</c:v>
                </c:pt>
                <c:pt idx="9">
                  <c:v>2026-03</c:v>
                </c:pt>
                <c:pt idx="10">
                  <c:v>2026-03</c:v>
                </c:pt>
                <c:pt idx="11">
                  <c:v>2026-03</c:v>
                </c:pt>
              </c:strCache>
            </c:strRef>
          </c:cat>
          <c:val>
            <c:numRef>
              <c:f>Sheet1!$C$2:$C$4</c:f>
              <c:numCache>
                <c:formatCode>General</c:formatCode>
                <c:ptCount val="3"/>
                <c:pt idx="0">
                  <c:v>84000</c:v>
                </c:pt>
                <c:pt idx="1">
                  <c:v>88900</c:v>
                </c:pt>
                <c:pt idx="2">
                  <c:v>91000</c:v>
                </c:pt>
              </c:numCache>
            </c:numRef>
          </c:val>
        </c:ser>
        <c:ser>
          <c:idx val="2"/>
          <c:order val="2"/>
          <c:tx>
            <c:strRef>
              <c:f>Sheet1!$D$1</c:f>
              <c:strCache>
                <c:ptCount val="1"/>
                <c:pt idx="0">
                  <c:v>East</c:v>
                </c:pt>
              </c:strCache>
            </c:strRef>
          </c:tx>
          <c:spPr>
            <a:solidFill>
              <a:srgbClr val="90E0EF"/>
            </a:solidFill>
          </c:spP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cat>
            <c:strRef>
              <c:f>Sheet1!$A$2:$A$13</c:f>
              <c:strCache>
                <c:ptCount val="12"/>
                <c:pt idx="0">
                  <c:v>2026-01</c:v>
                </c:pt>
                <c:pt idx="1">
                  <c:v>2026-01</c:v>
                </c:pt>
                <c:pt idx="2">
                  <c:v>2026-01</c:v>
                </c:pt>
                <c:pt idx="3">
                  <c:v>2026-01</c:v>
                </c:pt>
                <c:pt idx="4">
                  <c:v>2026-02</c:v>
                </c:pt>
                <c:pt idx="5">
                  <c:v>2026-02</c:v>
                </c:pt>
                <c:pt idx="6">
                  <c:v>2026-02</c:v>
                </c:pt>
                <c:pt idx="7">
                  <c:v>2026-02</c:v>
                </c:pt>
                <c:pt idx="8">
                  <c:v>2026-03</c:v>
                </c:pt>
                <c:pt idx="9">
                  <c:v>2026-03</c:v>
                </c:pt>
                <c:pt idx="10">
                  <c:v>2026-03</c:v>
                </c:pt>
                <c:pt idx="11">
                  <c:v>2026-03</c:v>
                </c:pt>
              </c:strCache>
            </c:strRef>
          </c:cat>
          <c:val>
            <c:numRef>
              <c:f>Sheet1!$D$2:$D$4</c:f>
              <c:numCache>
                <c:formatCode>General</c:formatCode>
                <c:ptCount val="3"/>
                <c:pt idx="0">
                  <c:v>61000</c:v>
                </c:pt>
                <c:pt idx="1">
                  <c:v>58200</c:v>
                </c:pt>
                <c:pt idx="2">
                  <c:v>66500</c:v>
                </c:pt>
              </c:numCache>
            </c:numRef>
          </c:val>
        </c:ser>
        <c:ser>
          <c:idx val="3"/>
          <c:order val="3"/>
          <c:tx>
            <c:strRef>
              <c:f>Sheet1!$E$1</c:f>
              <c:strCache>
                <c:ptCount val="1"/>
                <c:pt idx="0">
                  <c:v>West</c:v>
                </c:pt>
              </c:strCache>
            </c:strRef>
          </c:tx>
          <c:spPr>
            <a:solidFill>
              <a:srgbClr val="ABE8F5"/>
            </a:solidFill>
          </c:spP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cat>
            <c:strRef>
              <c:f>Sheet1!$A$2:$A$13</c:f>
              <c:strCache>
                <c:ptCount val="12"/>
                <c:pt idx="0">
                  <c:v>2026-01</c:v>
                </c:pt>
                <c:pt idx="1">
                  <c:v>2026-01</c:v>
                </c:pt>
                <c:pt idx="2">
                  <c:v>2026-01</c:v>
                </c:pt>
                <c:pt idx="3">
                  <c:v>2026-01</c:v>
                </c:pt>
                <c:pt idx="4">
                  <c:v>2026-02</c:v>
                </c:pt>
                <c:pt idx="5">
                  <c:v>2026-02</c:v>
                </c:pt>
                <c:pt idx="6">
                  <c:v>2026-02</c:v>
                </c:pt>
                <c:pt idx="7">
                  <c:v>2026-02</c:v>
                </c:pt>
                <c:pt idx="8">
                  <c:v>2026-03</c:v>
                </c:pt>
                <c:pt idx="9">
                  <c:v>2026-03</c:v>
                </c:pt>
                <c:pt idx="10">
                  <c:v>2026-03</c:v>
                </c:pt>
                <c:pt idx="11">
                  <c:v>2026-03</c:v>
                </c:pt>
              </c:strCache>
            </c:strRef>
          </c:cat>
          <c:val>
            <c:numRef>
              <c:f>Sheet1!$E$2:$E$4</c:f>
              <c:numCache>
                <c:formatCode>General</c:formatCode>
                <c:ptCount val="3"/>
                <c:pt idx="0">
                  <c:v>45000</c:v>
                </c:pt>
                <c:pt idx="1">
                  <c:v>47800</c:v>
                </c:pt>
                <c:pt idx="2">
                  <c:v>52300</c:v>
                </c:pt>
              </c:numCache>
            </c:numRef>
          </c:val>
        </c:ser>
        <c:gapWidth val="80"/>
        <c:axId val="-2068027336"/>
        <c:axId val="-2113994440"/>
      </c:barChart>
      <c:catAx>
        <c:axId val="-2068027336"/>
        <c:scaling>
          <c:orientation val="minMax"/>
        </c:scaling>
        <c:delete val="0"/>
        <c:axPos val="b"/>
        <c:majorTickMark val="out"/>
        <c:minorTickMark val="none"/>
        <c:tickLblPos val="nextTo"/>
        <c:spPr>
          <a:ln>
            <a:noFill/>
          </a:ln>
        </c:spPr>
        <c:txPr>
          <a:bodyPr/>
          <a:lstStyle/>
          <a:p>
            <a:pPr>
              <a:defRPr sz="1200">
                <a:solidFill>
                  <a:srgbClr val="CCDDEE"/>
                </a:solidFill>
              </a:defRPr>
            </a:pPr>
          </a:p>
        </c:txPr>
        <c:crossAx val="-2113994440"/>
        <c:crosses val="autoZero"/>
        <c:auto val="1"/>
        <c:lblAlgn val="ctr"/>
        <c:lblOffset val="100"/>
        <c:noMultiLvlLbl val="0"/>
      </c:catAx>
      <c:valAx>
        <c:axId val="-2113994440"/>
        <c:scaling/>
        <c:delete val="0"/>
        <c:axPos val="l"/>
        <c:majorGridlines/>
        <c:title>
          <c:tx>
            <c:rich>
              <a:bodyPr/>
              <a:lstStyle/>
              <a:p>
                <a:pPr>
                  <a:defRPr sz="1200">
                    <a:solidFill>
                      <a:srgbClr val="CCDDEE"/>
                    </a:solidFill>
                  </a:defRPr>
                </a:pPr>
                <a:r>
                  <a:t>Revenue ($)</a:t>
                </a:r>
              </a:p>
            </c:rich>
          </c:tx>
          <c:layout/>
          <c:overlay val="0"/>
        </c:title>
        <c:majorTickMark val="out"/>
        <c:minorTickMark val="none"/>
        <c:tickLblPos val="nextTo"/>
        <c:spPr>
          <a:ln>
            <a:noFill/>
          </a:ln>
        </c:spPr>
        <c:txPr>
          <a:bodyPr/>
          <a:lstStyle/>
          <a:p>
            <a:pPr>
              <a:defRPr sz="1200">
                <a:solidFill>
                  <a:srgbClr val="CCDDEE"/>
                </a:solidFill>
              </a:defRPr>
            </a:pPr>
          </a:p>
        </c:txPr>
        <c:crossAx val="-2068027336"/>
        <c:crosses val="autoZero"/>
      </c:valAx>
    </c:plotArea>
    <c:legend>
      <c:overlay val="0"/>
      <c:txPr>
        <a:bodyPr/>
        <a:lstStyle/>
        <a:p>
          <a:pPr>
            <a:defRPr sz="1200">
              <a:solidFill>
                <a:srgbClr val="FFFFFF"/>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 this is our Q1 2026 revenue review. We'll cover performance highlights, key metrics, risks, and next steps. Total revenue came in just above $1M with double-digit growth month-over-month.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grouped column chart shows each region's monthly revenue. North is the clear leader with consistent month-over-month growth. East had a dip in February but recovered strongly in March. West showed the smallest absolute numbers but steady improvement across the quarter.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is the dominant region at $412,500 total, or about 41% of revenue. Overall Q1 revenue hit $1,007,200. January to March growth was 12.8% — strong momentum. West had the highest percentage growth at 16.2%, though from a smaller base.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flagged four key risks: 1) North's outsized contribution creates concentration risk. 2) East's February dip needs investigation. 3) Customer growth is lagging revenue growth, suggesting we may be spending more on retention than acquisition. 4) The West region, while growing, remains vulnerable due to its small size.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next steps: 1) Diversify — run targeted campaigns in East and West. 2) Investigate the East February dip and codify findings into Q2 plans. 3) Improve customer ROI by reviewing CAC across regions. 4) Scale West pilots with a $25K budget and report back by mid-Q2.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We're happy to take questions on any of the regional data, methodology, or the next steps outlined. A full data workbook and these slides will be distributed after the meeting.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1371600" y="1828800"/>
            <a:ext cx="9144000" cy="1097280"/>
          </a:xfrm>
          <a:prstGeom prst="rect">
            <a:avLst/>
          </a:prstGeom>
          <a:noFill/>
        </p:spPr>
        <p:txBody>
          <a:bodyPr wrap="square">
            <a:spAutoFit/>
          </a:bodyPr>
          <a:lstStyle/>
          <a:p>
            <a:pPr algn="ctr">
              <a:defRPr sz="4400" b="1">
                <a:solidFill>
                  <a:srgbClr val="00B4D8"/>
                </a:solidFill>
                <a:latin typeface="Calibri"/>
              </a:defRPr>
            </a:pPr>
            <a:r>
              <a:t>Q1 2026 Revenue Review</a:t>
            </a:r>
          </a:p>
        </p:txBody>
      </p:sp>
      <p:sp>
        <p:nvSpPr>
          <p:cNvPr id="3" name="TextBox 2"/>
          <p:cNvSpPr txBox="1"/>
          <p:nvPr/>
        </p:nvSpPr>
        <p:spPr>
          <a:xfrm>
            <a:off x="1371600" y="2926080"/>
            <a:ext cx="9144000" cy="731520"/>
          </a:xfrm>
          <a:prstGeom prst="rect">
            <a:avLst/>
          </a:prstGeom>
          <a:noFill/>
        </p:spPr>
        <p:txBody>
          <a:bodyPr wrap="square">
            <a:spAutoFit/>
          </a:bodyPr>
          <a:lstStyle/>
          <a:p>
            <a:pPr algn="ctr">
              <a:defRPr sz="2600" b="0">
                <a:solidFill>
                  <a:srgbClr val="CCDDEE"/>
                </a:solidFill>
                <a:latin typeface="Calibri"/>
              </a:defRPr>
            </a:pPr>
            <a:r>
              <a:t>January  –  March  2026</a:t>
            </a:r>
          </a:p>
        </p:txBody>
      </p:sp>
      <p:sp>
        <p:nvSpPr>
          <p:cNvPr id="4" name="TextBox 3"/>
          <p:cNvSpPr txBox="1"/>
          <p:nvPr/>
        </p:nvSpPr>
        <p:spPr>
          <a:xfrm>
            <a:off x="1371600" y="3840480"/>
            <a:ext cx="9144000" cy="548640"/>
          </a:xfrm>
          <a:prstGeom prst="rect">
            <a:avLst/>
          </a:prstGeom>
          <a:noFill/>
        </p:spPr>
        <p:txBody>
          <a:bodyPr wrap="square">
            <a:spAutoFit/>
          </a:bodyPr>
          <a:lstStyle/>
          <a:p>
            <a:pPr algn="ctr">
              <a:defRPr sz="1800" b="0">
                <a:solidFill>
                  <a:srgbClr val="88AACC"/>
                </a:solidFill>
                <a:latin typeface="Calibri"/>
              </a:defRPr>
            </a:pPr>
            <a:r>
              <a:t>Prepared for the Leadership Team</a:t>
            </a:r>
          </a:p>
        </p:txBody>
      </p:sp>
      <p:sp>
        <p:nvSpPr>
          <p:cNvPr id="5" name="Rectangle 4"/>
          <p:cNvSpPr/>
          <p:nvPr/>
        </p:nvSpPr>
        <p:spPr>
          <a:xfrm>
            <a:off x="0" y="6400800"/>
            <a:ext cx="12191695" cy="457200"/>
          </a:xfrm>
          <a:prstGeom prst="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5486400" cy="365760"/>
          </a:xfrm>
          <a:prstGeom prst="rect">
            <a:avLst/>
          </a:prstGeom>
          <a:noFill/>
        </p:spPr>
        <p:txBody>
          <a:bodyPr wrap="square">
            <a:spAutoFit/>
          </a:bodyPr>
          <a:lstStyle/>
          <a:p>
            <a:pPr algn="l">
              <a:defRPr sz="1200" b="0">
                <a:solidFill>
                  <a:srgbClr val="88AACC"/>
                </a:solidFill>
                <a:latin typeface="Calibri"/>
              </a:defRPr>
            </a:pPr>
            <a:r>
              <a:t>CONFIDENTIAL  ·  Q1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200" b="1">
                <a:solidFill>
                  <a:srgbClr val="00B4D8"/>
                </a:solidFill>
                <a:latin typeface="Calibri"/>
              </a:defRPr>
            </a:pPr>
            <a:r>
              <a:t>Revenue by Region  &amp;  Month</a:t>
            </a:r>
          </a:p>
        </p:txBody>
      </p:sp>
      <p:sp>
        <p:nvSpPr>
          <p:cNvPr id="3" name="TextBox 2"/>
          <p:cNvSpPr txBox="1"/>
          <p:nvPr/>
        </p:nvSpPr>
        <p:spPr>
          <a:xfrm>
            <a:off x="731520" y="914400"/>
            <a:ext cx="9144000" cy="457200"/>
          </a:xfrm>
          <a:prstGeom prst="rect">
            <a:avLst/>
          </a:prstGeom>
          <a:noFill/>
        </p:spPr>
        <p:txBody>
          <a:bodyPr wrap="square">
            <a:spAutoFit/>
          </a:bodyPr>
          <a:lstStyle/>
          <a:p>
            <a:pPr algn="l">
              <a:defRPr sz="1600" b="0">
                <a:solidFill>
                  <a:srgbClr val="CCDDEE"/>
                </a:solidFill>
                <a:latin typeface="Calibri"/>
              </a:defRPr>
            </a:pPr>
            <a:r>
              <a:t>Grouped column chart — every region's monthly trajectory</a:t>
            </a:r>
          </a:p>
        </p:txBody>
      </p:sp>
      <p:graphicFrame>
        <p:nvGraphicFramePr>
          <p:cNvPr id="4" name="Chart 3"/>
          <p:cNvGraphicFramePr>
            <a:graphicFrameLocks noGrp="1"/>
          </p:cNvGraphicFramePr>
          <p:nvPr/>
        </p:nvGraphicFramePr>
        <p:xfrm>
          <a:off x="731520" y="1554480"/>
          <a:ext cx="7772400" cy="4572000"/>
        </p:xfrm>
        <a:graphic>
          <a:graphicData uri="http://schemas.openxmlformats.org/drawingml/2006/chart">
            <c:chart xmlns:c="http://schemas.openxmlformats.org/drawingml/2006/chart" r:id="rId2"/>
          </a:graphicData>
        </a:graphic>
      </p:graphicFrame>
      <p:sp>
        <p:nvSpPr>
          <p:cNvPr id="5" name="TextBox 4"/>
          <p:cNvSpPr txBox="1"/>
          <p:nvPr/>
        </p:nvSpPr>
        <p:spPr>
          <a:xfrm>
            <a:off x="731520" y="5760720"/>
            <a:ext cx="10058400" cy="457200"/>
          </a:xfrm>
          <a:prstGeom prst="rect">
            <a:avLst/>
          </a:prstGeom>
          <a:noFill/>
        </p:spPr>
        <p:txBody>
          <a:bodyPr wrap="square">
            <a:spAutoFit/>
          </a:bodyPr>
          <a:lstStyle/>
          <a:p>
            <a:pPr algn="l">
              <a:defRPr sz="1600" b="1">
                <a:solidFill>
                  <a:srgbClr val="00B4D8"/>
                </a:solidFill>
                <a:latin typeface="Calibri"/>
              </a:defRPr>
            </a:pPr>
            <a:r>
              <a:t>Takeaway: North leads in every month — nearly 41% of total Q1 revenue.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200" b="1">
                <a:solidFill>
                  <a:srgbClr val="00B4D8"/>
                </a:solidFill>
                <a:latin typeface="Calibri"/>
              </a:defRPr>
            </a:pPr>
            <a:r>
              <a:t>Key Numbers at a Glance</a:t>
            </a:r>
          </a:p>
        </p:txBody>
      </p:sp>
      <p:sp>
        <p:nvSpPr>
          <p:cNvPr id="3" name="Rounded Rectangle 2"/>
          <p:cNvSpPr/>
          <p:nvPr/>
        </p:nvSpPr>
        <p:spPr>
          <a:xfrm>
            <a:off x="731520" y="1371600"/>
            <a:ext cx="2560320" cy="20116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08760"/>
            <a:ext cx="2286000" cy="365760"/>
          </a:xfrm>
          <a:prstGeom prst="rect">
            <a:avLst/>
          </a:prstGeom>
          <a:noFill/>
        </p:spPr>
        <p:txBody>
          <a:bodyPr wrap="square">
            <a:spAutoFit/>
          </a:bodyPr>
          <a:lstStyle/>
          <a:p>
            <a:pPr algn="ctr">
              <a:defRPr sz="2000" b="1">
                <a:solidFill>
                  <a:srgbClr val="00B4D8"/>
                </a:solidFill>
                <a:latin typeface="Calibri"/>
              </a:defRPr>
            </a:pPr>
            <a:r>
              <a:t>North</a:t>
            </a:r>
          </a:p>
        </p:txBody>
      </p:sp>
      <p:sp>
        <p:nvSpPr>
          <p:cNvPr id="5" name="TextBox 4"/>
          <p:cNvSpPr txBox="1"/>
          <p:nvPr/>
        </p:nvSpPr>
        <p:spPr>
          <a:xfrm>
            <a:off x="868680" y="1920240"/>
            <a:ext cx="2286000" cy="457200"/>
          </a:xfrm>
          <a:prstGeom prst="rect">
            <a:avLst/>
          </a:prstGeom>
          <a:noFill/>
        </p:spPr>
        <p:txBody>
          <a:bodyPr wrap="square">
            <a:spAutoFit/>
          </a:bodyPr>
          <a:lstStyle/>
          <a:p>
            <a:pPr algn="ctr">
              <a:defRPr sz="1800" b="0">
                <a:solidFill>
                  <a:srgbClr val="CCDDEE"/>
                </a:solidFill>
                <a:latin typeface="Calibri"/>
              </a:defRPr>
            </a:pPr>
            <a:r>
              <a:t>$128,000</a:t>
            </a:r>
          </a:p>
        </p:txBody>
      </p:sp>
      <p:sp>
        <p:nvSpPr>
          <p:cNvPr id="6" name="TextBox 5"/>
          <p:cNvSpPr txBox="1"/>
          <p:nvPr/>
        </p:nvSpPr>
        <p:spPr>
          <a:xfrm>
            <a:off x="868680" y="2423160"/>
            <a:ext cx="2286000" cy="457200"/>
          </a:xfrm>
          <a:prstGeom prst="rect">
            <a:avLst/>
          </a:prstGeom>
          <a:noFill/>
        </p:spPr>
        <p:txBody>
          <a:bodyPr wrap="square">
            <a:spAutoFit/>
          </a:bodyPr>
          <a:lstStyle/>
          <a:p>
            <a:pPr algn="ctr">
              <a:defRPr sz="1800" b="0">
                <a:solidFill>
                  <a:srgbClr val="FFFFFF"/>
                </a:solidFill>
                <a:latin typeface="Calibri"/>
              </a:defRPr>
            </a:pPr>
            <a:r>
              <a:t>$149,000</a:t>
            </a:r>
          </a:p>
        </p:txBody>
      </p:sp>
      <p:sp>
        <p:nvSpPr>
          <p:cNvPr id="7" name="TextBox 6"/>
          <p:cNvSpPr txBox="1"/>
          <p:nvPr/>
        </p:nvSpPr>
        <p:spPr>
          <a:xfrm>
            <a:off x="868680" y="2926080"/>
            <a:ext cx="2286000" cy="365760"/>
          </a:xfrm>
          <a:prstGeom prst="rect">
            <a:avLst/>
          </a:prstGeom>
          <a:noFill/>
        </p:spPr>
        <p:txBody>
          <a:bodyPr wrap="square">
            <a:spAutoFit/>
          </a:bodyPr>
          <a:lstStyle/>
          <a:p>
            <a:pPr algn="ctr">
              <a:defRPr sz="1600" b="1">
                <a:solidFill>
                  <a:srgbClr val="00B4D8"/>
                </a:solidFill>
                <a:latin typeface="Calibri"/>
              </a:defRPr>
            </a:pPr>
            <a:r>
              <a:t>+16.4% growth</a:t>
            </a:r>
          </a:p>
        </p:txBody>
      </p:sp>
      <p:sp>
        <p:nvSpPr>
          <p:cNvPr id="8" name="Rounded Rectangle 7"/>
          <p:cNvSpPr/>
          <p:nvPr/>
        </p:nvSpPr>
        <p:spPr>
          <a:xfrm>
            <a:off x="3566160" y="1371600"/>
            <a:ext cx="2560320" cy="20116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508760"/>
            <a:ext cx="2286000" cy="365760"/>
          </a:xfrm>
          <a:prstGeom prst="rect">
            <a:avLst/>
          </a:prstGeom>
          <a:noFill/>
        </p:spPr>
        <p:txBody>
          <a:bodyPr wrap="square">
            <a:spAutoFit/>
          </a:bodyPr>
          <a:lstStyle/>
          <a:p>
            <a:pPr algn="ctr">
              <a:defRPr sz="2000" b="1">
                <a:solidFill>
                  <a:srgbClr val="00B4D8"/>
                </a:solidFill>
                <a:latin typeface="Calibri"/>
              </a:defRPr>
            </a:pPr>
            <a:r>
              <a:t>South</a:t>
            </a:r>
          </a:p>
        </p:txBody>
      </p:sp>
      <p:sp>
        <p:nvSpPr>
          <p:cNvPr id="10" name="TextBox 9"/>
          <p:cNvSpPr txBox="1"/>
          <p:nvPr/>
        </p:nvSpPr>
        <p:spPr>
          <a:xfrm>
            <a:off x="3703320" y="1920240"/>
            <a:ext cx="2286000" cy="457200"/>
          </a:xfrm>
          <a:prstGeom prst="rect">
            <a:avLst/>
          </a:prstGeom>
          <a:noFill/>
        </p:spPr>
        <p:txBody>
          <a:bodyPr wrap="square">
            <a:spAutoFit/>
          </a:bodyPr>
          <a:lstStyle/>
          <a:p>
            <a:pPr algn="ctr">
              <a:defRPr sz="1800" b="0">
                <a:solidFill>
                  <a:srgbClr val="CCDDEE"/>
                </a:solidFill>
                <a:latin typeface="Calibri"/>
              </a:defRPr>
            </a:pPr>
            <a:r>
              <a:t>$84,000</a:t>
            </a:r>
          </a:p>
        </p:txBody>
      </p:sp>
      <p:sp>
        <p:nvSpPr>
          <p:cNvPr id="11" name="TextBox 10"/>
          <p:cNvSpPr txBox="1"/>
          <p:nvPr/>
        </p:nvSpPr>
        <p:spPr>
          <a:xfrm>
            <a:off x="3703320" y="2423160"/>
            <a:ext cx="2286000" cy="457200"/>
          </a:xfrm>
          <a:prstGeom prst="rect">
            <a:avLst/>
          </a:prstGeom>
          <a:noFill/>
        </p:spPr>
        <p:txBody>
          <a:bodyPr wrap="square">
            <a:spAutoFit/>
          </a:bodyPr>
          <a:lstStyle/>
          <a:p>
            <a:pPr algn="ctr">
              <a:defRPr sz="1800" b="0">
                <a:solidFill>
                  <a:srgbClr val="FFFFFF"/>
                </a:solidFill>
                <a:latin typeface="Calibri"/>
              </a:defRPr>
            </a:pPr>
            <a:r>
              <a:t>$91,000</a:t>
            </a:r>
          </a:p>
        </p:txBody>
      </p:sp>
      <p:sp>
        <p:nvSpPr>
          <p:cNvPr id="12" name="TextBox 11"/>
          <p:cNvSpPr txBox="1"/>
          <p:nvPr/>
        </p:nvSpPr>
        <p:spPr>
          <a:xfrm>
            <a:off x="3703320" y="2926080"/>
            <a:ext cx="2286000" cy="365760"/>
          </a:xfrm>
          <a:prstGeom prst="rect">
            <a:avLst/>
          </a:prstGeom>
          <a:noFill/>
        </p:spPr>
        <p:txBody>
          <a:bodyPr wrap="square">
            <a:spAutoFit/>
          </a:bodyPr>
          <a:lstStyle/>
          <a:p>
            <a:pPr algn="ctr">
              <a:defRPr sz="1600" b="1">
                <a:solidFill>
                  <a:srgbClr val="00B4D8"/>
                </a:solidFill>
                <a:latin typeface="Calibri"/>
              </a:defRPr>
            </a:pPr>
            <a:r>
              <a:t>+8.3% growth</a:t>
            </a:r>
          </a:p>
        </p:txBody>
      </p:sp>
      <p:sp>
        <p:nvSpPr>
          <p:cNvPr id="13" name="Rounded Rectangle 12"/>
          <p:cNvSpPr/>
          <p:nvPr/>
        </p:nvSpPr>
        <p:spPr>
          <a:xfrm>
            <a:off x="6400800" y="1371600"/>
            <a:ext cx="2560320" cy="20116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508760"/>
            <a:ext cx="2286000" cy="365760"/>
          </a:xfrm>
          <a:prstGeom prst="rect">
            <a:avLst/>
          </a:prstGeom>
          <a:noFill/>
        </p:spPr>
        <p:txBody>
          <a:bodyPr wrap="square">
            <a:spAutoFit/>
          </a:bodyPr>
          <a:lstStyle/>
          <a:p>
            <a:pPr algn="ctr">
              <a:defRPr sz="2000" b="1">
                <a:solidFill>
                  <a:srgbClr val="00B4D8"/>
                </a:solidFill>
                <a:latin typeface="Calibri"/>
              </a:defRPr>
            </a:pPr>
            <a:r>
              <a:t>East</a:t>
            </a:r>
          </a:p>
        </p:txBody>
      </p:sp>
      <p:sp>
        <p:nvSpPr>
          <p:cNvPr id="15" name="TextBox 14"/>
          <p:cNvSpPr txBox="1"/>
          <p:nvPr/>
        </p:nvSpPr>
        <p:spPr>
          <a:xfrm>
            <a:off x="6537960" y="1920240"/>
            <a:ext cx="2286000" cy="457200"/>
          </a:xfrm>
          <a:prstGeom prst="rect">
            <a:avLst/>
          </a:prstGeom>
          <a:noFill/>
        </p:spPr>
        <p:txBody>
          <a:bodyPr wrap="square">
            <a:spAutoFit/>
          </a:bodyPr>
          <a:lstStyle/>
          <a:p>
            <a:pPr algn="ctr">
              <a:defRPr sz="1800" b="0">
                <a:solidFill>
                  <a:srgbClr val="CCDDEE"/>
                </a:solidFill>
                <a:latin typeface="Calibri"/>
              </a:defRPr>
            </a:pPr>
            <a:r>
              <a:t>$61,000</a:t>
            </a:r>
          </a:p>
        </p:txBody>
      </p:sp>
      <p:sp>
        <p:nvSpPr>
          <p:cNvPr id="16" name="TextBox 15"/>
          <p:cNvSpPr txBox="1"/>
          <p:nvPr/>
        </p:nvSpPr>
        <p:spPr>
          <a:xfrm>
            <a:off x="6537960" y="2423160"/>
            <a:ext cx="2286000" cy="457200"/>
          </a:xfrm>
          <a:prstGeom prst="rect">
            <a:avLst/>
          </a:prstGeom>
          <a:noFill/>
        </p:spPr>
        <p:txBody>
          <a:bodyPr wrap="square">
            <a:spAutoFit/>
          </a:bodyPr>
          <a:lstStyle/>
          <a:p>
            <a:pPr algn="ctr">
              <a:defRPr sz="1800" b="0">
                <a:solidFill>
                  <a:srgbClr val="FFFFFF"/>
                </a:solidFill>
                <a:latin typeface="Calibri"/>
              </a:defRPr>
            </a:pPr>
            <a:r>
              <a:t>$66,500</a:t>
            </a:r>
          </a:p>
        </p:txBody>
      </p:sp>
      <p:sp>
        <p:nvSpPr>
          <p:cNvPr id="17" name="TextBox 16"/>
          <p:cNvSpPr txBox="1"/>
          <p:nvPr/>
        </p:nvSpPr>
        <p:spPr>
          <a:xfrm>
            <a:off x="6537960" y="2926080"/>
            <a:ext cx="2286000" cy="365760"/>
          </a:xfrm>
          <a:prstGeom prst="rect">
            <a:avLst/>
          </a:prstGeom>
          <a:noFill/>
        </p:spPr>
        <p:txBody>
          <a:bodyPr wrap="square">
            <a:spAutoFit/>
          </a:bodyPr>
          <a:lstStyle/>
          <a:p>
            <a:pPr algn="ctr">
              <a:defRPr sz="1600" b="1">
                <a:solidFill>
                  <a:srgbClr val="00B4D8"/>
                </a:solidFill>
                <a:latin typeface="Calibri"/>
              </a:defRPr>
            </a:pPr>
            <a:r>
              <a:t>+9.0% growth</a:t>
            </a:r>
          </a:p>
        </p:txBody>
      </p:sp>
      <p:sp>
        <p:nvSpPr>
          <p:cNvPr id="18" name="Rounded Rectangle 17"/>
          <p:cNvSpPr/>
          <p:nvPr/>
        </p:nvSpPr>
        <p:spPr>
          <a:xfrm>
            <a:off x="9235440" y="1371600"/>
            <a:ext cx="2560320" cy="20116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508760"/>
            <a:ext cx="2286000" cy="365760"/>
          </a:xfrm>
          <a:prstGeom prst="rect">
            <a:avLst/>
          </a:prstGeom>
          <a:noFill/>
        </p:spPr>
        <p:txBody>
          <a:bodyPr wrap="square">
            <a:spAutoFit/>
          </a:bodyPr>
          <a:lstStyle/>
          <a:p>
            <a:pPr algn="ctr">
              <a:defRPr sz="2000" b="1">
                <a:solidFill>
                  <a:srgbClr val="00B4D8"/>
                </a:solidFill>
                <a:latin typeface="Calibri"/>
              </a:defRPr>
            </a:pPr>
            <a:r>
              <a:t>West</a:t>
            </a:r>
          </a:p>
        </p:txBody>
      </p:sp>
      <p:sp>
        <p:nvSpPr>
          <p:cNvPr id="20" name="TextBox 19"/>
          <p:cNvSpPr txBox="1"/>
          <p:nvPr/>
        </p:nvSpPr>
        <p:spPr>
          <a:xfrm>
            <a:off x="9372600" y="1920240"/>
            <a:ext cx="2286000" cy="457200"/>
          </a:xfrm>
          <a:prstGeom prst="rect">
            <a:avLst/>
          </a:prstGeom>
          <a:noFill/>
        </p:spPr>
        <p:txBody>
          <a:bodyPr wrap="square">
            <a:spAutoFit/>
          </a:bodyPr>
          <a:lstStyle/>
          <a:p>
            <a:pPr algn="ctr">
              <a:defRPr sz="1800" b="0">
                <a:solidFill>
                  <a:srgbClr val="CCDDEE"/>
                </a:solidFill>
                <a:latin typeface="Calibri"/>
              </a:defRPr>
            </a:pPr>
            <a:r>
              <a:t>$45,000</a:t>
            </a:r>
          </a:p>
        </p:txBody>
      </p:sp>
      <p:sp>
        <p:nvSpPr>
          <p:cNvPr id="21" name="TextBox 20"/>
          <p:cNvSpPr txBox="1"/>
          <p:nvPr/>
        </p:nvSpPr>
        <p:spPr>
          <a:xfrm>
            <a:off x="9372600" y="2423160"/>
            <a:ext cx="2286000" cy="457200"/>
          </a:xfrm>
          <a:prstGeom prst="rect">
            <a:avLst/>
          </a:prstGeom>
          <a:noFill/>
        </p:spPr>
        <p:txBody>
          <a:bodyPr wrap="square">
            <a:spAutoFit/>
          </a:bodyPr>
          <a:lstStyle/>
          <a:p>
            <a:pPr algn="ctr">
              <a:defRPr sz="1800" b="0">
                <a:solidFill>
                  <a:srgbClr val="FFFFFF"/>
                </a:solidFill>
                <a:latin typeface="Calibri"/>
              </a:defRPr>
            </a:pPr>
            <a:r>
              <a:t>$52,300</a:t>
            </a:r>
          </a:p>
        </p:txBody>
      </p:sp>
      <p:sp>
        <p:nvSpPr>
          <p:cNvPr id="22" name="TextBox 21"/>
          <p:cNvSpPr txBox="1"/>
          <p:nvPr/>
        </p:nvSpPr>
        <p:spPr>
          <a:xfrm>
            <a:off x="9372600" y="2926080"/>
            <a:ext cx="2286000" cy="365760"/>
          </a:xfrm>
          <a:prstGeom prst="rect">
            <a:avLst/>
          </a:prstGeom>
          <a:noFill/>
        </p:spPr>
        <p:txBody>
          <a:bodyPr wrap="square">
            <a:spAutoFit/>
          </a:bodyPr>
          <a:lstStyle/>
          <a:p>
            <a:pPr algn="ctr">
              <a:defRPr sz="1600" b="1">
                <a:solidFill>
                  <a:srgbClr val="00B4D8"/>
                </a:solidFill>
                <a:latin typeface="Calibri"/>
              </a:defRPr>
            </a:pPr>
            <a:r>
              <a:t>+16.2% growth</a:t>
            </a:r>
          </a:p>
        </p:txBody>
      </p:sp>
      <p:sp>
        <p:nvSpPr>
          <p:cNvPr id="23" name="Rounded Rectangle 22"/>
          <p:cNvSpPr/>
          <p:nvPr/>
        </p:nvSpPr>
        <p:spPr>
          <a:xfrm>
            <a:off x="731520" y="3840480"/>
            <a:ext cx="10698480" cy="91440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931920"/>
            <a:ext cx="3200400" cy="731520"/>
          </a:xfrm>
          <a:prstGeom prst="rect">
            <a:avLst/>
          </a:prstGeom>
          <a:noFill/>
        </p:spPr>
        <p:txBody>
          <a:bodyPr wrap="square">
            <a:spAutoFit/>
          </a:bodyPr>
          <a:lstStyle/>
          <a:p>
            <a:pPr algn="r">
              <a:defRPr sz="2200" b="0">
                <a:solidFill>
                  <a:srgbClr val="CCDDEE"/>
                </a:solidFill>
                <a:latin typeface="Calibri"/>
              </a:defRPr>
            </a:pPr>
            <a:r>
              <a:t>Total Q1 Revenue</a:t>
            </a:r>
          </a:p>
        </p:txBody>
      </p:sp>
      <p:sp>
        <p:nvSpPr>
          <p:cNvPr id="25" name="TextBox 24"/>
          <p:cNvSpPr txBox="1"/>
          <p:nvPr/>
        </p:nvSpPr>
        <p:spPr>
          <a:xfrm>
            <a:off x="4389120" y="3886200"/>
            <a:ext cx="2743200" cy="731520"/>
          </a:xfrm>
          <a:prstGeom prst="rect">
            <a:avLst/>
          </a:prstGeom>
          <a:noFill/>
        </p:spPr>
        <p:txBody>
          <a:bodyPr wrap="square">
            <a:spAutoFit/>
          </a:bodyPr>
          <a:lstStyle/>
          <a:p>
            <a:pPr algn="ctr">
              <a:defRPr sz="3200" b="1">
                <a:solidFill>
                  <a:srgbClr val="00B4D8"/>
                </a:solidFill>
                <a:latin typeface="Calibri"/>
              </a:defRPr>
            </a:pPr>
            <a:r>
              <a:t>$1,007,200</a:t>
            </a:r>
          </a:p>
        </p:txBody>
      </p:sp>
      <p:sp>
        <p:nvSpPr>
          <p:cNvPr id="26" name="TextBox 25"/>
          <p:cNvSpPr txBox="1"/>
          <p:nvPr/>
        </p:nvSpPr>
        <p:spPr>
          <a:xfrm>
            <a:off x="7315200" y="3931920"/>
            <a:ext cx="3657600" cy="731520"/>
          </a:xfrm>
          <a:prstGeom prst="rect">
            <a:avLst/>
          </a:prstGeom>
          <a:noFill/>
        </p:spPr>
        <p:txBody>
          <a:bodyPr wrap="square">
            <a:spAutoFit/>
          </a:bodyPr>
          <a:lstStyle/>
          <a:p>
            <a:pPr algn="l">
              <a:defRPr sz="2000" b="0">
                <a:solidFill>
                  <a:srgbClr val="FFFFFF"/>
                </a:solidFill>
                <a:latin typeface="Calibri"/>
              </a:defRPr>
            </a:pPr>
            <a:r>
              <a:t>Best region: North  ·  $412,500</a:t>
            </a:r>
          </a:p>
        </p:txBody>
      </p:sp>
      <p:sp>
        <p:nvSpPr>
          <p:cNvPr id="27" name="TextBox 26"/>
          <p:cNvSpPr txBox="1"/>
          <p:nvPr/>
        </p:nvSpPr>
        <p:spPr>
          <a:xfrm>
            <a:off x="731520" y="5029200"/>
            <a:ext cx="10058400" cy="457200"/>
          </a:xfrm>
          <a:prstGeom prst="rect">
            <a:avLst/>
          </a:prstGeom>
          <a:noFill/>
        </p:spPr>
        <p:txBody>
          <a:bodyPr wrap="square">
            <a:spAutoFit/>
          </a:bodyPr>
          <a:lstStyle/>
          <a:p>
            <a:pPr algn="l">
              <a:defRPr sz="1800" b="0">
                <a:solidFill>
                  <a:srgbClr val="CCDDEE"/>
                </a:solidFill>
                <a:latin typeface="Calibri"/>
              </a:defRPr>
            </a:pPr>
            <a:r>
              <a:t>Revenue grew 12.8% from January ($318,000) to March ($358,800).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200" b="1">
                <a:solidFill>
                  <a:srgbClr val="00B4D8"/>
                </a:solidFill>
                <a:latin typeface="Calibri"/>
              </a:defRPr>
            </a:pPr>
            <a:r>
              <a:t>Risks &amp; Observations</a:t>
            </a:r>
          </a:p>
        </p:txBody>
      </p:sp>
      <p:sp>
        <p:nvSpPr>
          <p:cNvPr id="3" name="Rounded Rectangle 2"/>
          <p:cNvSpPr/>
          <p:nvPr/>
        </p:nvSpPr>
        <p:spPr>
          <a:xfrm>
            <a:off x="731520" y="1188720"/>
            <a:ext cx="10698480" cy="118872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109728" cy="1188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61872"/>
            <a:ext cx="10058400" cy="320040"/>
          </a:xfrm>
          <a:prstGeom prst="rect">
            <a:avLst/>
          </a:prstGeom>
          <a:noFill/>
        </p:spPr>
        <p:txBody>
          <a:bodyPr wrap="square">
            <a:spAutoFit/>
          </a:bodyPr>
          <a:lstStyle/>
          <a:p>
            <a:pPr algn="l">
              <a:defRPr sz="1800" b="1">
                <a:solidFill>
                  <a:srgbClr val="00B4D8"/>
                </a:solidFill>
                <a:latin typeface="Calibri"/>
              </a:defRPr>
            </a:pPr>
            <a:r>
              <a:t>Uneven regional performance</a:t>
            </a:r>
          </a:p>
        </p:txBody>
      </p:sp>
      <p:sp>
        <p:nvSpPr>
          <p:cNvPr id="6" name="TextBox 5"/>
          <p:cNvSpPr txBox="1"/>
          <p:nvPr/>
        </p:nvSpPr>
        <p:spPr>
          <a:xfrm>
            <a:off x="1097280" y="1627632"/>
            <a:ext cx="10058400" cy="731520"/>
          </a:xfrm>
          <a:prstGeom prst="rect">
            <a:avLst/>
          </a:prstGeom>
          <a:noFill/>
        </p:spPr>
        <p:txBody>
          <a:bodyPr wrap="square">
            <a:spAutoFit/>
          </a:bodyPr>
          <a:lstStyle/>
          <a:p>
            <a:pPr algn="l">
              <a:defRPr sz="1400" b="0">
                <a:solidFill>
                  <a:srgbClr val="CCDDEE"/>
                </a:solidFill>
                <a:latin typeface="Calibri"/>
              </a:defRPr>
            </a:pPr>
            <a:r>
              <a:t>North contributes 41% of revenue — heavy reliance on one region. East &amp; West are below expectations.</a:t>
            </a:r>
          </a:p>
        </p:txBody>
      </p:sp>
      <p:sp>
        <p:nvSpPr>
          <p:cNvPr id="7" name="Rounded Rectangle 6"/>
          <p:cNvSpPr/>
          <p:nvPr/>
        </p:nvSpPr>
        <p:spPr>
          <a:xfrm>
            <a:off x="731520" y="2514600"/>
            <a:ext cx="10698480" cy="118872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514600"/>
            <a:ext cx="109728" cy="1188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87752"/>
            <a:ext cx="10058400" cy="320040"/>
          </a:xfrm>
          <a:prstGeom prst="rect">
            <a:avLst/>
          </a:prstGeom>
          <a:noFill/>
        </p:spPr>
        <p:txBody>
          <a:bodyPr wrap="square">
            <a:spAutoFit/>
          </a:bodyPr>
          <a:lstStyle/>
          <a:p>
            <a:pPr algn="l">
              <a:defRPr sz="1800" b="1">
                <a:solidFill>
                  <a:srgbClr val="00B4D8"/>
                </a:solidFill>
                <a:latin typeface="Calibri"/>
              </a:defRPr>
            </a:pPr>
            <a:r>
              <a:t>East dip in February</a:t>
            </a:r>
          </a:p>
        </p:txBody>
      </p:sp>
      <p:sp>
        <p:nvSpPr>
          <p:cNvPr id="10" name="TextBox 9"/>
          <p:cNvSpPr txBox="1"/>
          <p:nvPr/>
        </p:nvSpPr>
        <p:spPr>
          <a:xfrm>
            <a:off x="1097280" y="2953512"/>
            <a:ext cx="10058400" cy="731520"/>
          </a:xfrm>
          <a:prstGeom prst="rect">
            <a:avLst/>
          </a:prstGeom>
          <a:noFill/>
        </p:spPr>
        <p:txBody>
          <a:bodyPr wrap="square">
            <a:spAutoFit/>
          </a:bodyPr>
          <a:lstStyle/>
          <a:p>
            <a:pPr algn="l">
              <a:defRPr sz="1400" b="0">
                <a:solidFill>
                  <a:srgbClr val="CCDDEE"/>
                </a:solidFill>
                <a:latin typeface="Calibri"/>
              </a:defRPr>
            </a:pPr>
            <a:r>
              <a:t>East revenue dropped 4.6% in Feb before recovering. Investigate whether this was seasonal or operational.</a:t>
            </a:r>
          </a:p>
        </p:txBody>
      </p:sp>
      <p:sp>
        <p:nvSpPr>
          <p:cNvPr id="11" name="Rounded Rectangle 10"/>
          <p:cNvSpPr/>
          <p:nvPr/>
        </p:nvSpPr>
        <p:spPr>
          <a:xfrm>
            <a:off x="731520" y="3840480"/>
            <a:ext cx="10698480" cy="118872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840480"/>
            <a:ext cx="109728" cy="1188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913632"/>
            <a:ext cx="10058400" cy="320040"/>
          </a:xfrm>
          <a:prstGeom prst="rect">
            <a:avLst/>
          </a:prstGeom>
          <a:noFill/>
        </p:spPr>
        <p:txBody>
          <a:bodyPr wrap="square">
            <a:spAutoFit/>
          </a:bodyPr>
          <a:lstStyle/>
          <a:p>
            <a:pPr algn="l">
              <a:defRPr sz="1800" b="1">
                <a:solidFill>
                  <a:srgbClr val="00B4D8"/>
                </a:solidFill>
                <a:latin typeface="Calibri"/>
              </a:defRPr>
            </a:pPr>
            <a:r>
              <a:t>Customer growth lagging revenue</a:t>
            </a:r>
          </a:p>
        </p:txBody>
      </p:sp>
      <p:sp>
        <p:nvSpPr>
          <p:cNvPr id="14" name="TextBox 13"/>
          <p:cNvSpPr txBox="1"/>
          <p:nvPr/>
        </p:nvSpPr>
        <p:spPr>
          <a:xfrm>
            <a:off x="1097280" y="4279392"/>
            <a:ext cx="10058400" cy="731520"/>
          </a:xfrm>
          <a:prstGeom prst="rect">
            <a:avLst/>
          </a:prstGeom>
          <a:noFill/>
        </p:spPr>
        <p:txBody>
          <a:bodyPr wrap="square">
            <a:spAutoFit/>
          </a:bodyPr>
          <a:lstStyle/>
          <a:p>
            <a:pPr algn="l">
              <a:defRPr sz="1400" b="0">
                <a:solidFill>
                  <a:srgbClr val="CCDDEE"/>
                </a:solidFill>
                <a:latin typeface="Calibri"/>
              </a:defRPr>
            </a:pPr>
            <a:r>
              <a:t>Customers grew only 7.3% (127→136 avg) while revenue grew 12.8%. Acquisition cost may need scrutiny.</a:t>
            </a:r>
          </a:p>
        </p:txBody>
      </p:sp>
      <p:sp>
        <p:nvSpPr>
          <p:cNvPr id="15" name="Rounded Rectangle 14"/>
          <p:cNvSpPr/>
          <p:nvPr/>
        </p:nvSpPr>
        <p:spPr>
          <a:xfrm>
            <a:off x="731520" y="5166359"/>
            <a:ext cx="10698480" cy="118872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166359"/>
            <a:ext cx="109728" cy="1188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239511"/>
            <a:ext cx="10058400" cy="320040"/>
          </a:xfrm>
          <a:prstGeom prst="rect">
            <a:avLst/>
          </a:prstGeom>
          <a:noFill/>
        </p:spPr>
        <p:txBody>
          <a:bodyPr wrap="square">
            <a:spAutoFit/>
          </a:bodyPr>
          <a:lstStyle/>
          <a:p>
            <a:pPr algn="l">
              <a:defRPr sz="1800" b="1">
                <a:solidFill>
                  <a:srgbClr val="00B4D8"/>
                </a:solidFill>
                <a:latin typeface="Calibri"/>
              </a:defRPr>
            </a:pPr>
            <a:r>
              <a:t>West region — small base risk</a:t>
            </a:r>
          </a:p>
        </p:txBody>
      </p:sp>
      <p:sp>
        <p:nvSpPr>
          <p:cNvPr id="18" name="TextBox 17"/>
          <p:cNvSpPr txBox="1"/>
          <p:nvPr/>
        </p:nvSpPr>
        <p:spPr>
          <a:xfrm>
            <a:off x="1097280" y="5605271"/>
            <a:ext cx="10058400" cy="731520"/>
          </a:xfrm>
          <a:prstGeom prst="rect">
            <a:avLst/>
          </a:prstGeom>
          <a:noFill/>
        </p:spPr>
        <p:txBody>
          <a:bodyPr wrap="square">
            <a:spAutoFit/>
          </a:bodyPr>
          <a:lstStyle/>
          <a:p>
            <a:pPr algn="l">
              <a:defRPr sz="1400" b="0">
                <a:solidFill>
                  <a:srgbClr val="CCDDEE"/>
                </a:solidFill>
                <a:latin typeface="Calibri"/>
              </a:defRPr>
            </a:pPr>
            <a:r>
              <a:t>West has the fewest customers (140) and lowest revenue ($145K). Any churn impact is proportionally larger.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731520" y="365760"/>
            <a:ext cx="7315200" cy="640080"/>
          </a:xfrm>
          <a:prstGeom prst="rect">
            <a:avLst/>
          </a:prstGeom>
          <a:noFill/>
        </p:spPr>
        <p:txBody>
          <a:bodyPr wrap="square">
            <a:spAutoFit/>
          </a:bodyPr>
          <a:lstStyle/>
          <a:p>
            <a:pPr algn="l">
              <a:defRPr sz="3200" b="1">
                <a:solidFill>
                  <a:srgbClr val="00B4D8"/>
                </a:solidFill>
                <a:latin typeface="Calibri"/>
              </a:defRPr>
            </a:pPr>
            <a:r>
              <a:t>Next Steps</a:t>
            </a:r>
          </a:p>
        </p:txBody>
      </p:sp>
      <p:sp>
        <p:nvSpPr>
          <p:cNvPr id="3" name="Rounded Rectangle 2"/>
          <p:cNvSpPr/>
          <p:nvPr/>
        </p:nvSpPr>
        <p:spPr>
          <a:xfrm>
            <a:off x="731520" y="1188720"/>
            <a:ext cx="10698480" cy="10972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05840" y="141732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2A4A"/>
                </a:solidFill>
              </a:defRPr>
            </a:pPr>
            <a:r>
              <a:t>1</a:t>
            </a:r>
          </a:p>
        </p:txBody>
      </p:sp>
      <p:sp>
        <p:nvSpPr>
          <p:cNvPr id="5" name="TextBox 4"/>
          <p:cNvSpPr txBox="1"/>
          <p:nvPr/>
        </p:nvSpPr>
        <p:spPr>
          <a:xfrm>
            <a:off x="1828800" y="1261872"/>
            <a:ext cx="9144000" cy="320040"/>
          </a:xfrm>
          <a:prstGeom prst="rect">
            <a:avLst/>
          </a:prstGeom>
          <a:noFill/>
        </p:spPr>
        <p:txBody>
          <a:bodyPr wrap="square">
            <a:spAutoFit/>
          </a:bodyPr>
          <a:lstStyle/>
          <a:p>
            <a:pPr algn="l">
              <a:defRPr sz="1800" b="1">
                <a:solidFill>
                  <a:srgbClr val="00B4D8"/>
                </a:solidFill>
                <a:latin typeface="Calibri"/>
              </a:defRPr>
            </a:pPr>
            <a:r>
              <a:t>Diversify revenue base</a:t>
            </a:r>
          </a:p>
        </p:txBody>
      </p:sp>
      <p:sp>
        <p:nvSpPr>
          <p:cNvPr id="6" name="TextBox 5"/>
          <p:cNvSpPr txBox="1"/>
          <p:nvPr/>
        </p:nvSpPr>
        <p:spPr>
          <a:xfrm>
            <a:off x="1828800" y="1645920"/>
            <a:ext cx="9144000" cy="594360"/>
          </a:xfrm>
          <a:prstGeom prst="rect">
            <a:avLst/>
          </a:prstGeom>
          <a:noFill/>
        </p:spPr>
        <p:txBody>
          <a:bodyPr wrap="square">
            <a:spAutoFit/>
          </a:bodyPr>
          <a:lstStyle/>
          <a:p>
            <a:pPr algn="l">
              <a:defRPr sz="1400" b="0">
                <a:solidFill>
                  <a:srgbClr val="CCDDEE"/>
                </a:solidFill>
                <a:latin typeface="Calibri"/>
              </a:defRPr>
            </a:pPr>
            <a:r>
              <a:t>Launch targeted campaigns in East &amp; West to reduce North dependency from 41% to 35% by Q3.</a:t>
            </a:r>
          </a:p>
        </p:txBody>
      </p:sp>
      <p:sp>
        <p:nvSpPr>
          <p:cNvPr id="7" name="Rounded Rectangle 6"/>
          <p:cNvSpPr/>
          <p:nvPr/>
        </p:nvSpPr>
        <p:spPr>
          <a:xfrm>
            <a:off x="731520" y="2423160"/>
            <a:ext cx="10698480" cy="10972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265176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2A4A"/>
                </a:solidFill>
              </a:defRPr>
            </a:pPr>
            <a:r>
              <a:t>2</a:t>
            </a:r>
          </a:p>
        </p:txBody>
      </p:sp>
      <p:sp>
        <p:nvSpPr>
          <p:cNvPr id="9" name="TextBox 8"/>
          <p:cNvSpPr txBox="1"/>
          <p:nvPr/>
        </p:nvSpPr>
        <p:spPr>
          <a:xfrm>
            <a:off x="1828800" y="2496312"/>
            <a:ext cx="9144000" cy="320040"/>
          </a:xfrm>
          <a:prstGeom prst="rect">
            <a:avLst/>
          </a:prstGeom>
          <a:noFill/>
        </p:spPr>
        <p:txBody>
          <a:bodyPr wrap="square">
            <a:spAutoFit/>
          </a:bodyPr>
          <a:lstStyle/>
          <a:p>
            <a:pPr algn="l">
              <a:defRPr sz="1800" b="1">
                <a:solidFill>
                  <a:srgbClr val="00B4D8"/>
                </a:solidFill>
                <a:latin typeface="Calibri"/>
              </a:defRPr>
            </a:pPr>
            <a:r>
              <a:t>Root-cause East dip</a:t>
            </a:r>
          </a:p>
        </p:txBody>
      </p:sp>
      <p:sp>
        <p:nvSpPr>
          <p:cNvPr id="10" name="TextBox 9"/>
          <p:cNvSpPr txBox="1"/>
          <p:nvPr/>
        </p:nvSpPr>
        <p:spPr>
          <a:xfrm>
            <a:off x="1828800" y="2880360"/>
            <a:ext cx="9144000" cy="594360"/>
          </a:xfrm>
          <a:prstGeom prst="rect">
            <a:avLst/>
          </a:prstGeom>
          <a:noFill/>
        </p:spPr>
        <p:txBody>
          <a:bodyPr wrap="square">
            <a:spAutoFit/>
          </a:bodyPr>
          <a:lstStyle/>
          <a:p>
            <a:pPr algn="l">
              <a:defRPr sz="1400" b="0">
                <a:solidFill>
                  <a:srgbClr val="CCDDEE"/>
                </a:solidFill>
                <a:latin typeface="Calibri"/>
              </a:defRPr>
            </a:pPr>
            <a:r>
              <a:t>Analyze February operations in East; implement lessons into Q2 playbooks.</a:t>
            </a:r>
          </a:p>
        </p:txBody>
      </p:sp>
      <p:sp>
        <p:nvSpPr>
          <p:cNvPr id="11" name="Rounded Rectangle 10"/>
          <p:cNvSpPr/>
          <p:nvPr/>
        </p:nvSpPr>
        <p:spPr>
          <a:xfrm>
            <a:off x="731520" y="3657600"/>
            <a:ext cx="10698480" cy="10972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388620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2A4A"/>
                </a:solidFill>
              </a:defRPr>
            </a:pPr>
            <a:r>
              <a:t>3</a:t>
            </a:r>
          </a:p>
        </p:txBody>
      </p:sp>
      <p:sp>
        <p:nvSpPr>
          <p:cNvPr id="13" name="TextBox 12"/>
          <p:cNvSpPr txBox="1"/>
          <p:nvPr/>
        </p:nvSpPr>
        <p:spPr>
          <a:xfrm>
            <a:off x="1828800" y="3730752"/>
            <a:ext cx="9144000" cy="320040"/>
          </a:xfrm>
          <a:prstGeom prst="rect">
            <a:avLst/>
          </a:prstGeom>
          <a:noFill/>
        </p:spPr>
        <p:txBody>
          <a:bodyPr wrap="square">
            <a:spAutoFit/>
          </a:bodyPr>
          <a:lstStyle/>
          <a:p>
            <a:pPr algn="l">
              <a:defRPr sz="1800" b="1">
                <a:solidFill>
                  <a:srgbClr val="00B4D8"/>
                </a:solidFill>
                <a:latin typeface="Calibri"/>
              </a:defRPr>
            </a:pPr>
            <a:r>
              <a:t>Improve customer ROI</a:t>
            </a:r>
          </a:p>
        </p:txBody>
      </p:sp>
      <p:sp>
        <p:nvSpPr>
          <p:cNvPr id="14" name="TextBox 13"/>
          <p:cNvSpPr txBox="1"/>
          <p:nvPr/>
        </p:nvSpPr>
        <p:spPr>
          <a:xfrm>
            <a:off x="1828800" y="4114800"/>
            <a:ext cx="9144000" cy="594360"/>
          </a:xfrm>
          <a:prstGeom prst="rect">
            <a:avLst/>
          </a:prstGeom>
          <a:noFill/>
        </p:spPr>
        <p:txBody>
          <a:bodyPr wrap="square">
            <a:spAutoFit/>
          </a:bodyPr>
          <a:lstStyle/>
          <a:p>
            <a:pPr algn="l">
              <a:defRPr sz="1400" b="0">
                <a:solidFill>
                  <a:srgbClr val="CCDDEE"/>
                </a:solidFill>
                <a:latin typeface="Calibri"/>
              </a:defRPr>
            </a:pPr>
            <a:r>
              <a:t>Review CAC by region and channel; aim for customer growth to match or exceed revenue growth.</a:t>
            </a:r>
          </a:p>
        </p:txBody>
      </p:sp>
      <p:sp>
        <p:nvSpPr>
          <p:cNvPr id="15" name="Rounded Rectangle 14"/>
          <p:cNvSpPr/>
          <p:nvPr/>
        </p:nvSpPr>
        <p:spPr>
          <a:xfrm>
            <a:off x="731520" y="4892040"/>
            <a:ext cx="10698480" cy="1097280"/>
          </a:xfrm>
          <a:prstGeom prst="round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40" y="512064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B2A4A"/>
                </a:solidFill>
              </a:defRPr>
            </a:pPr>
            <a:r>
              <a:t>4</a:t>
            </a:r>
          </a:p>
        </p:txBody>
      </p:sp>
      <p:sp>
        <p:nvSpPr>
          <p:cNvPr id="17" name="TextBox 16"/>
          <p:cNvSpPr txBox="1"/>
          <p:nvPr/>
        </p:nvSpPr>
        <p:spPr>
          <a:xfrm>
            <a:off x="1828800" y="4965192"/>
            <a:ext cx="9144000" cy="320040"/>
          </a:xfrm>
          <a:prstGeom prst="rect">
            <a:avLst/>
          </a:prstGeom>
          <a:noFill/>
        </p:spPr>
        <p:txBody>
          <a:bodyPr wrap="square">
            <a:spAutoFit/>
          </a:bodyPr>
          <a:lstStyle/>
          <a:p>
            <a:pPr algn="l">
              <a:defRPr sz="1800" b="1">
                <a:solidFill>
                  <a:srgbClr val="00B4D8"/>
                </a:solidFill>
                <a:latin typeface="Calibri"/>
              </a:defRPr>
            </a:pPr>
            <a:r>
              <a:t>Scale West pilots</a:t>
            </a:r>
          </a:p>
        </p:txBody>
      </p:sp>
      <p:sp>
        <p:nvSpPr>
          <p:cNvPr id="18" name="TextBox 17"/>
          <p:cNvSpPr txBox="1"/>
          <p:nvPr/>
        </p:nvSpPr>
        <p:spPr>
          <a:xfrm>
            <a:off x="1828800" y="5349240"/>
            <a:ext cx="9144000" cy="594360"/>
          </a:xfrm>
          <a:prstGeom prst="rect">
            <a:avLst/>
          </a:prstGeom>
          <a:noFill/>
        </p:spPr>
        <p:txBody>
          <a:bodyPr wrap="square">
            <a:spAutoFit/>
          </a:bodyPr>
          <a:lstStyle/>
          <a:p>
            <a:pPr algn="l">
              <a:defRPr sz="1400" b="0">
                <a:solidFill>
                  <a:srgbClr val="CCDDEE"/>
                </a:solidFill>
                <a:latin typeface="Calibri"/>
              </a:defRPr>
            </a:pPr>
            <a:r>
              <a:t>Test two new market-entry tactics in West with $25K budget; report results by mid-Q2.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1371600" y="2011680"/>
            <a:ext cx="9144000" cy="914400"/>
          </a:xfrm>
          <a:prstGeom prst="rect">
            <a:avLst/>
          </a:prstGeom>
          <a:noFill/>
        </p:spPr>
        <p:txBody>
          <a:bodyPr wrap="square">
            <a:spAutoFit/>
          </a:bodyPr>
          <a:lstStyle/>
          <a:p>
            <a:pPr algn="ctr">
              <a:defRPr sz="4400" b="1">
                <a:solidFill>
                  <a:srgbClr val="00B4D8"/>
                </a:solidFill>
                <a:latin typeface="Calibri"/>
              </a:defRPr>
            </a:pPr>
            <a:r>
              <a:t>Thank You</a:t>
            </a:r>
          </a:p>
        </p:txBody>
      </p:sp>
      <p:sp>
        <p:nvSpPr>
          <p:cNvPr id="3" name="TextBox 2"/>
          <p:cNvSpPr txBox="1"/>
          <p:nvPr/>
        </p:nvSpPr>
        <p:spPr>
          <a:xfrm>
            <a:off x="1371600" y="3017520"/>
            <a:ext cx="9144000" cy="548640"/>
          </a:xfrm>
          <a:prstGeom prst="rect">
            <a:avLst/>
          </a:prstGeom>
          <a:noFill/>
        </p:spPr>
        <p:txBody>
          <a:bodyPr wrap="square">
            <a:spAutoFit/>
          </a:bodyPr>
          <a:lstStyle/>
          <a:p>
            <a:pPr algn="ctr">
              <a:defRPr sz="2600" b="0">
                <a:solidFill>
                  <a:srgbClr val="CCDDEE"/>
                </a:solidFill>
                <a:latin typeface="Calibri"/>
              </a:defRPr>
            </a:pPr>
            <a:r>
              <a:t>Questions &amp; Discussion</a:t>
            </a:r>
          </a:p>
        </p:txBody>
      </p:sp>
      <p:sp>
        <p:nvSpPr>
          <p:cNvPr id="4" name="TextBox 3"/>
          <p:cNvSpPr txBox="1"/>
          <p:nvPr/>
        </p:nvSpPr>
        <p:spPr>
          <a:xfrm>
            <a:off x="1371600" y="4023360"/>
            <a:ext cx="9144000" cy="457200"/>
          </a:xfrm>
          <a:prstGeom prst="rect">
            <a:avLst/>
          </a:prstGeom>
          <a:noFill/>
        </p:spPr>
        <p:txBody>
          <a:bodyPr wrap="square">
            <a:spAutoFit/>
          </a:bodyPr>
          <a:lstStyle/>
          <a:p>
            <a:pPr algn="ctr">
              <a:defRPr sz="1800" b="0">
                <a:solidFill>
                  <a:srgbClr val="88AACC"/>
                </a:solidFill>
                <a:latin typeface="Calibri"/>
              </a:defRPr>
            </a:pPr>
            <a:r>
              <a:t>Full data &amp; slides available upon request</a:t>
            </a:r>
          </a:p>
        </p:txBody>
      </p:sp>
      <p:sp>
        <p:nvSpPr>
          <p:cNvPr id="5" name="Rectangle 4"/>
          <p:cNvSpPr/>
          <p:nvPr/>
        </p:nvSpPr>
        <p:spPr>
          <a:xfrm>
            <a:off x="0" y="6400800"/>
            <a:ext cx="12191695" cy="457200"/>
          </a:xfrm>
          <a:prstGeom prst="rect">
            <a:avLst/>
          </a:prstGeom>
          <a:solidFill>
            <a:srgbClr val="152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46520"/>
            <a:ext cx="5486400" cy="365760"/>
          </a:xfrm>
          <a:prstGeom prst="rect">
            <a:avLst/>
          </a:prstGeom>
          <a:noFill/>
        </p:spPr>
        <p:txBody>
          <a:bodyPr wrap="square">
            <a:spAutoFit/>
          </a:bodyPr>
          <a:lstStyle/>
          <a:p>
            <a:pPr algn="l">
              <a:defRPr sz="1200" b="0">
                <a:solidFill>
                  <a:srgbClr val="88AACC"/>
                </a:solidFill>
                <a:latin typeface="Calibri"/>
              </a:defRPr>
            </a:pPr>
            <a:r>
              <a:t>CONFIDENTIAL  ·  Q1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